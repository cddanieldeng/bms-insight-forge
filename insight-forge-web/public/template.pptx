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4"/>
  </p:sldMasterIdLst>
  <p:notesMasterIdLst>
    <p:notesMasterId r:id="rId14"/>
  </p:notesMasterIdLst>
  <p:handoutMasterIdLst>
    <p:handoutMasterId r:id="rId15"/>
  </p:handoutMasterIdLst>
  <p:sldIdLst>
    <p:sldId id="258" r:id="rId5"/>
    <p:sldId id="2032092753" r:id="rId6"/>
    <p:sldId id="2032092754" r:id="rId7"/>
    <p:sldId id="2032092755" r:id="rId8"/>
    <p:sldId id="2032092756" r:id="rId9"/>
    <p:sldId id="2032093143" r:id="rId10"/>
    <p:sldId id="2032093145" r:id="rId11"/>
    <p:sldId id="2032093146" r:id="rId12"/>
    <p:sldId id="2032092752" r:id="rId13"/>
  </p:sldIdLst>
  <p:sldSz cx="12192000" cy="6858000"/>
  <p:notesSz cx="7010400" cy="9296400"/>
  <p:defaultTextStyle>
    <a:defPPr>
      <a:defRPr lang="en-CA"/>
    </a:defPPr>
    <a:lvl1pPr algn="l" rtl="0" fontAlgn="base">
      <a:spcBef>
        <a:spcPct val="20000"/>
      </a:spcBef>
      <a:spcAft>
        <a:spcPct val="0"/>
      </a:spcAft>
      <a:defRPr lang="en-US"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Priya Singh" initials="MS" lastIdx="15" clrIdx="0">
    <p:extLst>
      <p:ext uri="{19B8F6BF-5375-455C-9EA6-DF929625EA0E}">
        <p15:presenceInfo xmlns:p15="http://schemas.microsoft.com/office/powerpoint/2012/main" userId="ManuPriya Singh" providerId="None"/>
      </p:ext>
    </p:extLst>
  </p:cmAuthor>
  <p:cmAuthor id="2" name="Elisabeth Sullivan" initials="ES" lastIdx="37" clrIdx="1">
    <p:extLst>
      <p:ext uri="{19B8F6BF-5375-455C-9EA6-DF929625EA0E}">
        <p15:presenceInfo xmlns:p15="http://schemas.microsoft.com/office/powerpoint/2012/main" userId="S::elisabeth.sullivan@zs.com::233161cf-5802-414e-b627-8596d3402e5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628"/>
    <a:srgbClr val="000000"/>
    <a:srgbClr val="A3A1A8"/>
    <a:srgbClr val="75737D"/>
    <a:srgbClr val="76737E"/>
    <a:srgbClr val="484553"/>
    <a:srgbClr val="F4F3F3"/>
    <a:srgbClr val="D1D0D4"/>
    <a:srgbClr val="74727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078" autoAdjust="0"/>
  </p:normalViewPr>
  <p:slideViewPr>
    <p:cSldViewPr snapToGrid="0" snapToObjects="1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560"/>
    </p:cViewPr>
  </p:sorterViewPr>
  <p:notesViewPr>
    <p:cSldViewPr snapToGrid="0" snapToObjects="1">
      <p:cViewPr varScale="1">
        <p:scale>
          <a:sx n="94" d="100"/>
          <a:sy n="94" d="100"/>
        </p:scale>
        <p:origin x="356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defRPr sz="1200"/>
            </a:lvl1pPr>
          </a:lstStyle>
          <a:p>
            <a:r>
              <a:rPr lang="en-CA" sz="900" dirty="0">
                <a:solidFill>
                  <a:srgbClr val="A3A1A8"/>
                </a:solidFill>
              </a:rPr>
              <a:t>Presentation title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E62AEA76-1AF8-4F85-9CA1-6BD5B0409AF0}" type="datetime1">
              <a:rPr lang="en-CA" sz="900">
                <a:solidFill>
                  <a:srgbClr val="A3A1A8"/>
                </a:solidFill>
              </a:rPr>
              <a:pPr/>
              <a:t>2026-03-25</a:t>
            </a:fld>
            <a:endParaRPr lang="en-CA" sz="900" dirty="0">
              <a:solidFill>
                <a:srgbClr val="A3A1A8"/>
              </a:solidFill>
            </a:endParaRPr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defRPr sz="1200"/>
            </a:lvl1pPr>
          </a:lstStyle>
          <a:p>
            <a:r>
              <a:rPr lang="en-CA" sz="900" dirty="0">
                <a:solidFill>
                  <a:srgbClr val="A3A1A8"/>
                </a:solidFill>
              </a:rPr>
              <a:t>© 2020 ZS. Confidential.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39792D56-8577-4C6A-B75D-3660B62F2BA0}" type="slidenum">
              <a:rPr lang="en-CA" sz="900">
                <a:solidFill>
                  <a:srgbClr val="A3A1A8"/>
                </a:solidFill>
              </a:rPr>
              <a:pPr/>
              <a:t>‹#›</a:t>
            </a:fld>
            <a:endParaRPr lang="en-CA" sz="900" dirty="0">
              <a:solidFill>
                <a:srgbClr val="A3A1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900">
                <a:solidFill>
                  <a:srgbClr val="A3A1A8"/>
                </a:solidFill>
              </a:defRPr>
            </a:lvl1pPr>
          </a:lstStyle>
          <a:p>
            <a:r>
              <a:rPr lang="en-CA" dirty="0"/>
              <a:t>Presentation title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A3A1A8"/>
                </a:solidFill>
              </a:defRPr>
            </a:lvl1pPr>
          </a:lstStyle>
          <a:p>
            <a:fld id="{2B35FEB9-FD75-4C7E-93D3-1F9D140905CC}" type="datetime1">
              <a:rPr lang="en-CA" smtClean="0"/>
              <a:pPr/>
              <a:t>2026-03-25</a:t>
            </a:fld>
            <a:endParaRPr lang="en-CA" dirty="0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6400" y="4416425"/>
            <a:ext cx="61976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900">
                <a:solidFill>
                  <a:srgbClr val="A3A1A8"/>
                </a:solidFill>
              </a:defRPr>
            </a:lvl1pPr>
          </a:lstStyle>
          <a:p>
            <a:r>
              <a:rPr lang="en-CA" dirty="0"/>
              <a:t>© 2020 ZS. Confidential.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 smtClean="0">
                <a:solidFill>
                  <a:srgbClr val="A3A1A8"/>
                </a:solidFill>
              </a:defRPr>
            </a:lvl1pPr>
          </a:lstStyle>
          <a:p>
            <a:pPr>
              <a:defRPr/>
            </a:pPr>
            <a:fld id="{5F55DF97-AFFE-42B5-8269-4299C3F7272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188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ts val="12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137160" indent="-137160" algn="l" rtl="0" fontAlgn="base">
      <a:spcBef>
        <a:spcPts val="400"/>
      </a:spcBef>
      <a:spcAft>
        <a:spcPct val="0"/>
      </a:spcAft>
      <a:buClr>
        <a:schemeClr val="tx1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274320" indent="-137160" algn="l" rtl="0" fontAlgn="base">
      <a:spcBef>
        <a:spcPts val="400"/>
      </a:spcBef>
      <a:spcAft>
        <a:spcPct val="0"/>
      </a:spcAft>
      <a:buClr>
        <a:schemeClr val="tx1"/>
      </a:buClr>
      <a:buFont typeface="Arial" panose="020B0604020202020204" pitchFamily="34" charset="0"/>
      <a:buChar char="–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ts val="1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ts val="1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DFEA-E520-4CB8-B97E-216B21E7DD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134362"/>
            <a:ext cx="5760720" cy="1661993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Project name</a:t>
            </a:r>
            <a:br>
              <a:rPr lang="en-US" dirty="0"/>
            </a:br>
            <a:r>
              <a:rPr lang="en-US" dirty="0"/>
              <a:t>Presentation title </a:t>
            </a:r>
            <a:br>
              <a:rPr lang="en-US" dirty="0"/>
            </a:br>
            <a:r>
              <a:rPr lang="en-US" dirty="0"/>
              <a:t>(Times New Roman 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000BD-79BF-4611-9B57-571F7BE12E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548640" y="4182618"/>
            <a:ext cx="5760720" cy="2769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Prepared for Client Name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9DAEAE-09D9-43F1-ACE9-0FBAF0973A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9275" y="4499842"/>
            <a:ext cx="5760720" cy="21544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A8940B4-E368-4738-955D-BBD8ECE70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49276" y="5111496"/>
            <a:ext cx="5760720" cy="307777"/>
          </a:xfrm>
        </p:spPr>
        <p:txBody>
          <a:bodyPr wrap="square" anchor="b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Confidential statement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CA3EB8B-ACB8-4D00-A63C-DD1B6F0BC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49276" y="5495544"/>
            <a:ext cx="5760720" cy="15388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Office and contact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88648C-0BC5-4A9C-B871-4FAC4ED4DD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D777C9-2AB8-42BC-8310-990E5356002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448864" y="1028700"/>
            <a:ext cx="0" cy="228600"/>
          </a:xfrm>
          <a:prstGeom prst="line">
            <a:avLst/>
          </a:prstGeom>
          <a:ln w="12700" cap="flat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520DC316-1EB8-4007-8275-38591C87C3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sp>
        <p:nvSpPr>
          <p:cNvPr id="15" name="titlemaster_clientlogo">
            <a:extLst>
              <a:ext uri="{FF2B5EF4-FFF2-40B4-BE49-F238E27FC236}">
                <a16:creationId xmlns:a16="http://schemas.microsoft.com/office/drawing/2014/main" id="{73647228-12FF-4FEA-9212-FF9D142B4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844000" y="685800"/>
            <a:ext cx="1828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50000"/>
              </a:spcBef>
            </a:pPr>
            <a:endParaRPr lang="en-US" sz="1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975461-CFCC-4B5A-92B2-274DFB1AF4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sp>
        <p:nvSpPr>
          <p:cNvPr id="17" name="titlemaster_draft" hidden="1">
            <a:extLst>
              <a:ext uri="{FF2B5EF4-FFF2-40B4-BE49-F238E27FC236}">
                <a16:creationId xmlns:a16="http://schemas.microsoft.com/office/drawing/2014/main" id="{3645DDA6-F9EA-4E88-8CFE-B64E169C40DB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77544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60C-1611-415D-B493-9E72EFC20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BB0295-4FF3-43F6-B6AE-C3DE5235AF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8640" y="1856232"/>
            <a:ext cx="11091672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7185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68CE-375C-4842-BF55-8BE857CA0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6468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 </a:t>
            </a:r>
            <a:br>
              <a:rPr lang="en-US" dirty="0"/>
            </a:br>
            <a:r>
              <a:rPr lang="en-US" dirty="0"/>
              <a:t>(Times New Roman 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 cap="flat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46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Light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51D-F35F-4EEA-A86B-2847AB1E77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133088"/>
            <a:ext cx="6858000" cy="2176272"/>
          </a:xfrm>
          <a:noFill/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section title </a:t>
            </a:r>
            <a:br>
              <a:rPr lang="en-US" dirty="0"/>
            </a:br>
            <a:r>
              <a:rPr lang="en-US" dirty="0"/>
              <a:t>(Times New Roman 36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FF0C-3EA2-42C3-A9F8-0C006EFCB14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auto">
          <a:xfrm>
            <a:off x="548640" y="3624638"/>
            <a:ext cx="6858000" cy="341632"/>
          </a:xfrm>
          <a:noFill/>
        </p:spPr>
        <p:txBody>
          <a:bodyPr wrap="square" bIns="64008" anchor="b">
            <a:spAutoFit/>
          </a:bodyPr>
          <a:lstStyle>
            <a:lvl1pPr marL="0" indent="0">
              <a:spcBef>
                <a:spcPts val="0"/>
              </a:spcBef>
              <a:buNone/>
              <a:defRPr sz="1800" cap="all" spc="3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SECTION NUMBER (ARIAL 18 PT)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3DB42-8D31-435E-B234-25F1065FA09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8640" y="3966270"/>
            <a:ext cx="6858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77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373368" y="1856232"/>
            <a:ext cx="5266944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6373368" y="2679192"/>
            <a:ext cx="5266944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  <a:latin typeface="+mn-lt"/>
              </a:defRPr>
            </a:lvl1pPr>
            <a:lvl2pPr marL="2286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2pPr>
            <a:lvl3pPr marL="457200" indent="-228600">
              <a:spcBef>
                <a:spcPts val="600"/>
              </a:spcBef>
              <a:buClrTx/>
              <a:defRPr sz="180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28207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430268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4430268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8311896" y="1856232"/>
            <a:ext cx="3328416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20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8311896" y="2679192"/>
            <a:ext cx="3328416" cy="3630168"/>
          </a:xfrm>
        </p:spPr>
        <p:txBody>
          <a:bodyPr/>
          <a:lstStyle>
            <a:lvl1pPr>
              <a:spcBef>
                <a:spcPts val="1500"/>
              </a:spcBef>
              <a:defRPr sz="1800">
                <a:solidFill>
                  <a:schemeClr val="accent1"/>
                </a:solidFill>
              </a:defRPr>
            </a:lvl1pPr>
            <a:lvl2pPr marL="2286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2pPr>
            <a:lvl3pPr marL="457200" indent="-228600">
              <a:spcBef>
                <a:spcPts val="600"/>
              </a:spcBef>
              <a:defRPr sz="18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67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438144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3438144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327648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6327648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217152" y="1856232"/>
            <a:ext cx="2423160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9217152" y="2679192"/>
            <a:ext cx="2423160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 16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0336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95-64E1-4411-937E-5150DCE0A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1CE3D-CEFE-47C0-AD66-2A33573E61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48640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0E40A-5876-4F21-B613-4F94029B876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 bwMode="auto">
          <a:xfrm>
            <a:off x="548640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B55B9A-ADF7-4311-A66D-E44237B8C9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59786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5F5CF3D-A561-43C6-AED0-4C8952C5F2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auto">
          <a:xfrm>
            <a:off x="2859786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E7BBE6-6473-4F15-B17D-4DC8CF07A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70932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036991A-2914-4ED0-8DDD-212CC13C8A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 bwMode="auto">
          <a:xfrm>
            <a:off x="5170932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CFE104-7E77-411D-9AA7-EDA183E88F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482078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F874E32-0FA2-4356-949A-FF2CAEA5F01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auto">
          <a:xfrm>
            <a:off x="7482078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4AC7757-EC14-40BD-B915-E1A7EFBB0F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9793224" y="1856232"/>
            <a:ext cx="1847088" cy="658368"/>
          </a:xfrm>
          <a:noFill/>
          <a:effectLst/>
        </p:spPr>
        <p:txBody>
          <a:bodyPr bIns="64008" anchor="b"/>
          <a:lstStyle>
            <a:lvl1pPr>
              <a:spcBef>
                <a:spcPts val="0"/>
              </a:spcBef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br>
              <a:rPr lang="en-US" dirty="0"/>
            </a:br>
            <a:r>
              <a:rPr lang="en-US" dirty="0"/>
              <a:t>(Arial 18 pt)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F9ADBB4-EAD8-46E3-9FD8-DB157F901E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 bwMode="auto">
          <a:xfrm>
            <a:off x="9793224" y="2679192"/>
            <a:ext cx="1847088" cy="3630168"/>
          </a:xfrm>
        </p:spPr>
        <p:txBody>
          <a:bodyPr/>
          <a:lstStyle>
            <a:lvl1pPr>
              <a:spcBef>
                <a:spcPts val="1500"/>
              </a:spcBef>
              <a:defRPr sz="1600">
                <a:solidFill>
                  <a:schemeClr val="accent1"/>
                </a:solidFill>
              </a:defRPr>
            </a:lvl1pPr>
            <a:lvl2pPr marL="18288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 marL="365760" indent="-182880">
              <a:spcBef>
                <a:spcPts val="600"/>
              </a:spcBef>
              <a:defRPr sz="160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 dirty="0"/>
              <a:t>Click to add text (Arial 16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000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6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Tx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master_filename1">
            <a:extLst>
              <a:ext uri="{FF2B5EF4-FFF2-40B4-BE49-F238E27FC236}">
                <a16:creationId xmlns:a16="http://schemas.microsoft.com/office/drawing/2014/main" id="{06D4893B-A038-4B9E-9E85-18240FDD059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5BE2E5-D465-48D9-812D-B3E2431999E2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529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 userDrawn="1">
          <p15:clr>
            <a:srgbClr val="FBAE40"/>
          </p15:clr>
        </p15:guide>
        <p15:guide id="2" pos="290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L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C89FE-52C7-4AD1-AA79-B8F5D23C151A}"/>
              </a:ext>
            </a:extLst>
          </p:cNvPr>
          <p:cNvSpPr/>
          <p:nvPr userDrawn="1"/>
        </p:nvSpPr>
        <p:spPr bwMode="white">
          <a:xfrm>
            <a:off x="0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9FF73-8ABA-455B-B206-BF71E94E3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2962021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9862-8A37-4ECE-867E-B3B15568E59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608575" y="548640"/>
            <a:ext cx="7034149" cy="5760720"/>
          </a:xfrm>
        </p:spPr>
        <p:txBody>
          <a:bodyPr anchor="ctr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master_filename2">
            <a:extLst>
              <a:ext uri="{FF2B5EF4-FFF2-40B4-BE49-F238E27FC236}">
                <a16:creationId xmlns:a16="http://schemas.microsoft.com/office/drawing/2014/main" id="{5ECBAB0E-06DC-40D5-A402-652460194265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57EC31-2BFF-4DCF-B51C-17764D8EE8EE}"/>
              </a:ext>
            </a:extLst>
          </p:cNvPr>
          <p:cNvCxnSpPr/>
          <p:nvPr userDrawn="1"/>
        </p:nvCxnSpPr>
        <p:spPr bwMode="black">
          <a:xfrm>
            <a:off x="4059936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804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12">
          <p15:clr>
            <a:srgbClr val="FBAE40"/>
          </p15:clr>
        </p15:guide>
        <p15:guide id="2" pos="290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</a:t>
            </a:r>
            <a:br>
              <a:rPr lang="en-US" dirty="0"/>
            </a:br>
            <a:r>
              <a:rPr lang="en-US" dirty="0"/>
              <a:t>32 pt)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DEA55C-D666-478B-B8F0-AC2B5A68DF4E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 (Arial 18 pt)</a:t>
            </a:r>
          </a:p>
        </p:txBody>
      </p:sp>
      <p:sp>
        <p:nvSpPr>
          <p:cNvPr id="10" name="slidemaster_copyright1">
            <a:extLst>
              <a:ext uri="{FF2B5EF4-FFF2-40B4-BE49-F238E27FC236}">
                <a16:creationId xmlns:a16="http://schemas.microsoft.com/office/drawing/2014/main" id="{E07AE106-793C-439E-99C1-53F2732C29B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2026 ZS</a:t>
            </a: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E0183D-CA00-43C2-8CC0-0AD284762CB2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A4D403D-2BBB-4A52-8BF7-8FEAAA96BD8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912B-0044-45A5-82EA-7216E1638C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1994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 userDrawn="1">
          <p15:clr>
            <a:srgbClr val="FBAE40"/>
          </p15:clr>
        </p15:guide>
        <p15:guide id="3" pos="4776" userDrawn="1">
          <p15:clr>
            <a:srgbClr val="FBAE40"/>
          </p15:clr>
        </p15:guide>
        <p15:guide id="4" pos="54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RH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48DD2-80F0-4B6A-B2C3-1845D5846D6F}"/>
              </a:ext>
            </a:extLst>
          </p:cNvPr>
          <p:cNvSpPr/>
          <p:nvPr userDrawn="1"/>
        </p:nvSpPr>
        <p:spPr bwMode="white">
          <a:xfrm>
            <a:off x="8132064" y="0"/>
            <a:ext cx="4059936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E86EA2-03CB-4305-BC47-BED1CA8375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7033260" cy="98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</a:t>
            </a:r>
            <a:br>
              <a:rPr lang="en-US" dirty="0"/>
            </a:br>
            <a:r>
              <a:rPr lang="en-US" dirty="0"/>
              <a:t>32 pt)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82F80EE-CEBC-442F-B7BC-7B9042599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80450" y="1856232"/>
            <a:ext cx="2962275" cy="3145536"/>
          </a:xfrm>
        </p:spPr>
        <p:txBody>
          <a:bodyPr anchor="ctr"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  <a:lvl2pPr>
              <a:buClrTx/>
              <a:defRPr>
                <a:solidFill>
                  <a:schemeClr val="accent1"/>
                </a:solidFill>
              </a:defRPr>
            </a:lvl2pPr>
            <a:lvl3pPr>
              <a:buClrTx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text (Arial 18 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slidemaster_copyright2">
            <a:extLst>
              <a:ext uri="{FF2B5EF4-FFF2-40B4-BE49-F238E27FC236}">
                <a16:creationId xmlns:a16="http://schemas.microsoft.com/office/drawing/2014/main" id="{50726B51-94B7-4DB5-B23A-BF6997C3CA5B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2026 ZS</a:t>
            </a: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C33B5-EC8A-48CE-AE62-7F7713914344}"/>
              </a:ext>
            </a:extLst>
          </p:cNvPr>
          <p:cNvCxnSpPr/>
          <p:nvPr userDrawn="1"/>
        </p:nvCxnSpPr>
        <p:spPr bwMode="black">
          <a:xfrm>
            <a:off x="8132064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9E87E40-A7B9-4507-8366-FDB1488CF7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2F6A7-9F61-4869-87DE-CC94F3570C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8640" y="1856232"/>
            <a:ext cx="7033260" cy="4453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Tx/>
              <a:buNone/>
              <a:defRPr b="0"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1pPr>
            <a:lvl2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Wingdings 2" panose="05020102010507070707" pitchFamily="18" charset="2"/>
              <a:buChar char="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2pPr>
            <a:lvl3pPr marL="457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–"/>
              <a:defRPr i="0" u="none" strike="noStrike" cap="none" spc="0" normalizeH="0" baseline="0">
                <a:solidFill>
                  <a:schemeClr val="accent1"/>
                </a:solidFill>
                <a:latin typeface="+mn-lt"/>
              </a:defRPr>
            </a:lvl3pPr>
          </a:lstStyle>
          <a:p>
            <a:pPr lvl="0"/>
            <a:r>
              <a:rPr lang="en-US" dirty="0"/>
              <a:t>Click to add text (Arial 18 pt)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0636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 userDrawn="1">
          <p15:clr>
            <a:srgbClr val="FBAE40"/>
          </p15:clr>
        </p15:guide>
        <p15:guide id="3" pos="4776">
          <p15:clr>
            <a:srgbClr val="FBAE40"/>
          </p15:clr>
        </p15:guide>
        <p15:guide id="4" pos="546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7" name="slidemaster_filename3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chemeClr val="accent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1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01468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6095998" y="1"/>
            <a:ext cx="6095999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B8C15-30C5-44CC-A416-DAF1BBB744EC}"/>
              </a:ext>
            </a:extLst>
          </p:cNvPr>
          <p:cNvSpPr/>
          <p:nvPr userDrawn="1"/>
        </p:nvSpPr>
        <p:spPr bwMode="white">
          <a:xfrm>
            <a:off x="0" y="0"/>
            <a:ext cx="6095999" cy="6858000"/>
          </a:xfrm>
          <a:prstGeom prst="rect">
            <a:avLst/>
          </a:prstGeom>
          <a:solidFill>
            <a:srgbClr val="F4F3F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C5D7D-659C-48D5-A3B0-4F826142F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4996498" cy="5971032"/>
          </a:xfrm>
        </p:spPr>
        <p:txBody>
          <a:bodyPr anchor="ctr">
            <a:no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7" name="slidemaster_filename4">
            <a:extLst>
              <a:ext uri="{FF2B5EF4-FFF2-40B4-BE49-F238E27FC236}">
                <a16:creationId xmlns:a16="http://schemas.microsoft.com/office/drawing/2014/main" id="{99761290-0476-45E6-8905-1C3281793D8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EFC27E-D5BA-43C3-9807-B7D5C912F6E7}"/>
              </a:ext>
            </a:extLst>
          </p:cNvPr>
          <p:cNvCxnSpPr/>
          <p:nvPr userDrawn="1"/>
        </p:nvCxnSpPr>
        <p:spPr bwMode="black">
          <a:xfrm>
            <a:off x="6095999" y="0"/>
            <a:ext cx="0" cy="6858000"/>
          </a:xfrm>
          <a:prstGeom prst="line">
            <a:avLst/>
          </a:prstGeom>
          <a:ln w="9525" cap="flat">
            <a:solidFill>
              <a:srgbClr val="F4F3F3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stommaster_draft2" hidden="1">
            <a:extLst>
              <a:ext uri="{FF2B5EF4-FFF2-40B4-BE49-F238E27FC236}">
                <a16:creationId xmlns:a16="http://schemas.microsoft.com/office/drawing/2014/main" id="{E0E24FD2-2FC7-4933-A61A-48C9621E970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576511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9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5A7A4-EB70-4AAB-8858-3433F1E5EA6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 bwMode="gray">
          <a:xfrm>
            <a:off x="0" y="1"/>
            <a:ext cx="12191997" cy="685799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1987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cus/Call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976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166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2252-36CC-4B94-BBA7-4A86D38D3B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48640" y="429768"/>
            <a:ext cx="11091672" cy="4924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 (Times New Roman 32 pt)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FB3628-AF32-41A2-AB06-20C57FAC13B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1069848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Placeholder for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BFF7695-068E-48BB-9A42-E24791ACFA7D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4951476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Placeholder for picture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CE4EDDA-44C1-4826-AD56-05D157F452B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8833104" y="2011680"/>
            <a:ext cx="2286000" cy="2286000"/>
          </a:xfrm>
          <a:prstGeom prst="ellipse">
            <a:avLst/>
          </a:prstGeom>
          <a:ln w="76200">
            <a:solidFill>
              <a:srgbClr val="F4F3F3"/>
            </a:solidFill>
            <a:miter lim="800000"/>
          </a:ln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Placeholder for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3936E4-A8D5-43DA-AACE-A3AD8A7AAE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48640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B6D5E2E-9DEF-4E60-B35C-7434225A91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430268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9E00FB-61C0-4238-A142-D59E9631E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311896" y="4572000"/>
            <a:ext cx="3328416" cy="369332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EF54358-DADD-4143-A8AD-1BDB2186DC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48640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Email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7278B55-C25A-48CC-8053-84DF48DB77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430268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A170C61-5603-4A4B-8297-EB07B549DC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311896" y="5074920"/>
            <a:ext cx="3328416" cy="492443"/>
          </a:xfrm>
        </p:spPr>
        <p:txBody>
          <a:bodyPr anchor="t">
            <a:spAutoFit/>
          </a:bodyPr>
          <a:lstStyle>
            <a:lvl1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42717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C74BD3F-5D46-4450-9A9D-DA1D80947B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548640" y="2378377"/>
            <a:ext cx="5669280" cy="228600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9" name="Picture 8" descr="A picture containing room, fence&#10;&#10;Description automatically generated">
            <a:extLst>
              <a:ext uri="{FF2B5EF4-FFF2-40B4-BE49-F238E27FC236}">
                <a16:creationId xmlns:a16="http://schemas.microsoft.com/office/drawing/2014/main" id="{B411F96A-8773-4B9A-BC12-2418A083F8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8640" y="548640"/>
            <a:ext cx="1505304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7362F-0DF5-4725-A857-047A39E3D4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" r="259"/>
          <a:stretch/>
        </p:blipFill>
        <p:spPr>
          <a:xfrm>
            <a:off x="8534400" y="0"/>
            <a:ext cx="3657600" cy="4874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A59B0-38FF-4BED-9055-E978E9123B4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8640" y="6168390"/>
            <a:ext cx="2083868" cy="182880"/>
          </a:xfrm>
          <a:prstGeom prst="rect">
            <a:avLst/>
          </a:prstGeom>
        </p:spPr>
      </p:pic>
      <p:sp>
        <p:nvSpPr>
          <p:cNvPr id="6" name="endmaster_draft" hidden="1">
            <a:extLst>
              <a:ext uri="{FF2B5EF4-FFF2-40B4-BE49-F238E27FC236}">
                <a16:creationId xmlns:a16="http://schemas.microsoft.com/office/drawing/2014/main" id="{81326F59-A1E6-4CE8-ABFE-7B5DCB4EA9A4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6967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A114F-0D26-4F75-9C91-62862E7EFB4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8640" y="429768"/>
            <a:ext cx="11091672" cy="49244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dirty="0"/>
              <a:t>Click to add title (Times New Roman 32 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9C1B-9847-492D-9832-3F08D03F23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8640" y="1856232"/>
            <a:ext cx="11091672" cy="44531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slidemaster_copyright">
            <a:extLst>
              <a:ext uri="{FF2B5EF4-FFF2-40B4-BE49-F238E27FC236}">
                <a16:creationId xmlns:a16="http://schemas.microsoft.com/office/drawing/2014/main" id="{EBE4C112-DAE1-4383-B338-60D56B961C5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620847" y="6544205"/>
            <a:ext cx="553037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900">
                <a:solidFill>
                  <a:srgbClr val="A3A1A8"/>
                </a:solidFill>
              </a:rPr>
              <a:t>© 2026 ZS</a:t>
            </a: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13" name="slidemaster_pagenumber">
            <a:extLst>
              <a:ext uri="{FF2B5EF4-FFF2-40B4-BE49-F238E27FC236}">
                <a16:creationId xmlns:a16="http://schemas.microsoft.com/office/drawing/2014/main" id="{2877A940-A631-4E1B-B19B-5FF4D109B3FD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99248" y="6544205"/>
            <a:ext cx="141064" cy="138499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fld id="{DA07F8F6-7554-49F2-A940-4760BCDD8FCA}" type="slidenum">
              <a:rPr lang="en-US" sz="900" smtClean="0">
                <a:solidFill>
                  <a:srgbClr val="A3A1A8"/>
                </a:solidFill>
              </a:rPr>
              <a:pPr algn="ctr">
                <a:spcBef>
                  <a:spcPts val="0"/>
                </a:spcBef>
              </a:pPr>
              <a:t>‹#›</a:t>
            </a:fld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14" name="slidemaster_filename">
            <a:extLst>
              <a:ext uri="{FF2B5EF4-FFF2-40B4-BE49-F238E27FC236}">
                <a16:creationId xmlns:a16="http://schemas.microsoft.com/office/drawing/2014/main" id="{F68B06B1-86C6-4EE3-836F-F05FD01ADDC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48639" y="6544205"/>
            <a:ext cx="3200400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CA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defRPr lang="en-US"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endParaRPr lang="en-US" sz="900" dirty="0">
              <a:solidFill>
                <a:srgbClr val="A3A1A8"/>
              </a:solidFill>
            </a:endParaRPr>
          </a:p>
        </p:txBody>
      </p:sp>
      <p:sp>
        <p:nvSpPr>
          <p:cNvPr id="7" name="slidemaster_draft" hidden="1">
            <a:extLst>
              <a:ext uri="{FF2B5EF4-FFF2-40B4-BE49-F238E27FC236}">
                <a16:creationId xmlns:a16="http://schemas.microsoft.com/office/drawing/2014/main" id="{25417A80-DCE9-4A55-A666-815B9E2F92BA}"/>
              </a:ext>
            </a:extLst>
          </p:cNvPr>
          <p:cNvSpPr txBox="1"/>
          <p:nvPr userDrawn="1"/>
        </p:nvSpPr>
        <p:spPr>
          <a:xfrm>
            <a:off x="5855550" y="189999"/>
            <a:ext cx="480901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80673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92" r:id="rId3"/>
    <p:sldLayoutId id="2147483689" r:id="rId4"/>
    <p:sldLayoutId id="2147483717" r:id="rId5"/>
    <p:sldLayoutId id="2147483720" r:id="rId6"/>
    <p:sldLayoutId id="2147483721" r:id="rId7"/>
    <p:sldLayoutId id="2147483722" r:id="rId8"/>
    <p:sldLayoutId id="2147483723" r:id="rId9"/>
    <p:sldLayoutId id="2147483694" r:id="rId10"/>
    <p:sldLayoutId id="2147483712" r:id="rId11"/>
    <p:sldLayoutId id="2147483711" r:id="rId12"/>
    <p:sldLayoutId id="2147483718" r:id="rId13"/>
    <p:sldLayoutId id="2147483695" r:id="rId14"/>
    <p:sldLayoutId id="2147483719" r:id="rId15"/>
    <p:sldLayoutId id="2147483701" r:id="rId16"/>
    <p:sldLayoutId id="2147483693" r:id="rId17"/>
    <p:sldLayoutId id="2147483713" r:id="rId18"/>
    <p:sldLayoutId id="2147483714" r:id="rId19"/>
    <p:sldLayoutId id="2147483715" r:id="rId2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Wingdings 2" panose="05020102010507070707" pitchFamily="18" charset="2"/>
        <a:buChar char="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–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6" userDrawn="1">
          <p15:clr>
            <a:srgbClr val="F26B43"/>
          </p15:clr>
        </p15:guide>
        <p15:guide id="2" pos="7334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project&amp;pres_name">
            <a:extLst>
              <a:ext uri="{FF2B5EF4-FFF2-40B4-BE49-F238E27FC236}">
                <a16:creationId xmlns:a16="http://schemas.microsoft.com/office/drawing/2014/main" id="{D9A09595-177C-4762-9C80-C7D5CFB27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ZS BP Coach– Your business plan partner</a:t>
            </a:r>
          </a:p>
        </p:txBody>
      </p:sp>
      <p:sp>
        <p:nvSpPr>
          <p:cNvPr id="5" name="slide_disclaimer">
            <a:extLst>
              <a:ext uri="{FF2B5EF4-FFF2-40B4-BE49-F238E27FC236}">
                <a16:creationId xmlns:a16="http://schemas.microsoft.com/office/drawing/2014/main" id="{B86C1C04-DC3A-4E9A-B551-D700178DD3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Confidential statement</a:t>
            </a:r>
          </a:p>
        </p:txBody>
      </p:sp>
      <p:sp>
        <p:nvSpPr>
          <p:cNvPr id="11" name="slide_footer">
            <a:extLst>
              <a:ext uri="{FF2B5EF4-FFF2-40B4-BE49-F238E27FC236}">
                <a16:creationId xmlns:a16="http://schemas.microsoft.com/office/drawing/2014/main" id="{587388CE-1051-42E4-8F01-5D88DD092B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6" y="5495544"/>
            <a:ext cx="5760720" cy="153888"/>
          </a:xfrm>
        </p:spPr>
        <p:txBody>
          <a:bodyPr/>
          <a:lstStyle/>
          <a:p>
            <a:r>
              <a:rPr lang="en-US" dirty="0"/>
              <a:t>Office and contact number</a:t>
            </a:r>
          </a:p>
        </p:txBody>
      </p:sp>
      <p:cxnSp>
        <p:nvCxnSpPr>
          <p:cNvPr id="8" name="logoLine" hidden="1">
            <a:extLst>
              <a:ext uri="{FF2B5EF4-FFF2-40B4-BE49-F238E27FC236}">
                <a16:creationId xmlns:a16="http://schemas.microsoft.com/office/drawing/2014/main" id="{A23265D6-0423-4949-BAF5-7FA53CF0F3E9}"/>
              </a:ext>
            </a:extLst>
          </p:cNvPr>
          <p:cNvCxnSpPr/>
          <p:nvPr/>
        </p:nvCxnSpPr>
        <p:spPr>
          <a:xfrm>
            <a:off x="2451600" y="1033200"/>
            <a:ext cx="0" cy="230400"/>
          </a:xfrm>
          <a:prstGeom prst="line">
            <a:avLst/>
          </a:prstGeom>
          <a:ln w="9525" cap="rnd">
            <a:solidFill>
              <a:schemeClr val="tx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54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C3E3AF-7990-49E9-BC44-4262D64F7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2134362"/>
            <a:ext cx="5760720" cy="1661993"/>
          </a:xfr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</a:pPr>
            <a:r>
              <a:rPr lang="en-US"/>
              <a:t>Customer Segmentation</a:t>
            </a:r>
          </a:p>
        </p:txBody>
      </p:sp>
    </p:spTree>
    <p:extLst>
      <p:ext uri="{BB962C8B-B14F-4D97-AF65-F5344CB8AC3E}">
        <p14:creationId xmlns:p14="http://schemas.microsoft.com/office/powerpoint/2010/main" val="360576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46F51-164C-C434-B224-BBB18AF5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inform a customer segment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0289A72-D7D1-1156-AC84-E43866AEF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490579"/>
              </p:ext>
            </p:extLst>
          </p:nvPr>
        </p:nvGraphicFramePr>
        <p:xfrm>
          <a:off x="428622" y="996294"/>
          <a:ext cx="11334757" cy="5069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169">
                  <a:extLst>
                    <a:ext uri="{9D8B030D-6E8A-4147-A177-3AD203B41FA5}">
                      <a16:colId xmlns:a16="http://schemas.microsoft.com/office/drawing/2014/main" val="3224872529"/>
                    </a:ext>
                  </a:extLst>
                </a:gridCol>
                <a:gridCol w="2026897">
                  <a:extLst>
                    <a:ext uri="{9D8B030D-6E8A-4147-A177-3AD203B41FA5}">
                      <a16:colId xmlns:a16="http://schemas.microsoft.com/office/drawing/2014/main" val="1557769997"/>
                    </a:ext>
                  </a:extLst>
                </a:gridCol>
                <a:gridCol w="2026897">
                  <a:extLst>
                    <a:ext uri="{9D8B030D-6E8A-4147-A177-3AD203B41FA5}">
                      <a16:colId xmlns:a16="http://schemas.microsoft.com/office/drawing/2014/main" val="1375330752"/>
                    </a:ext>
                  </a:extLst>
                </a:gridCol>
                <a:gridCol w="2026897">
                  <a:extLst>
                    <a:ext uri="{9D8B030D-6E8A-4147-A177-3AD203B41FA5}">
                      <a16:colId xmlns:a16="http://schemas.microsoft.com/office/drawing/2014/main" val="2395595615"/>
                    </a:ext>
                  </a:extLst>
                </a:gridCol>
                <a:gridCol w="2026897">
                  <a:extLst>
                    <a:ext uri="{9D8B030D-6E8A-4147-A177-3AD203B41FA5}">
                      <a16:colId xmlns:a16="http://schemas.microsoft.com/office/drawing/2014/main" val="2309981558"/>
                    </a:ext>
                  </a:extLst>
                </a:gridCol>
              </a:tblGrid>
              <a:tr h="4145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pc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068273"/>
                  </a:ext>
                </a:extLst>
              </a:tr>
              <a:tr h="7015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Demographics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spc="0" dirty="0">
                          <a:solidFill>
                            <a:schemeClr val="tx1"/>
                          </a:solidFill>
                        </a:rPr>
                        <a:t>(i.e., age, gender, etc.)</a:t>
                      </a:r>
                      <a:endParaRPr lang="en-US" sz="1400" spc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354999"/>
                  </a:ext>
                </a:extLst>
              </a:tr>
              <a:tr h="701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Preferences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(i.e., channel preference, detailing, call frequency) 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63113"/>
                  </a:ext>
                </a:extLst>
              </a:tr>
              <a:tr h="7015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Attitudes/Beliefs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(i.e., overall mindset, treatment approach, product perceptions) 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199234"/>
                  </a:ext>
                </a:extLst>
              </a:tr>
              <a:tr h="7015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Capabilities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(i.e., support staff/caregiver availability and or knowledge)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400261"/>
                  </a:ext>
                </a:extLst>
              </a:tr>
              <a:tr h="7015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Environment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(i.e., practice size, socio-economic environment, location)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208818"/>
                  </a:ext>
                </a:extLst>
              </a:tr>
              <a:tr h="701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Behaviors</a:t>
                      </a:r>
                      <a:r>
                        <a:rPr lang="en-US" sz="1400" spc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(i.e., product usage, early adopter status, practice affinity)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772606"/>
                  </a:ext>
                </a:extLst>
              </a:tr>
              <a:tr h="44566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600" b="1" spc="0" dirty="0">
                          <a:solidFill>
                            <a:schemeClr val="tx1"/>
                          </a:solidFill>
                        </a:rPr>
                        <a:t>Drivers/Barriers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161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16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B3A6-974F-0A37-9A5F-5839CFE2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CA56-C0C5-2E1A-690C-C46E19BC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Prioritization of the customer segments 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2A23FB5E-EC6A-1542-8432-E475C7DA7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742147"/>
              </p:ext>
            </p:extLst>
          </p:nvPr>
        </p:nvGraphicFramePr>
        <p:xfrm>
          <a:off x="428622" y="996294"/>
          <a:ext cx="11334758" cy="4622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658">
                  <a:extLst>
                    <a:ext uri="{9D8B030D-6E8A-4147-A177-3AD203B41FA5}">
                      <a16:colId xmlns:a16="http://schemas.microsoft.com/office/drawing/2014/main" val="3224872529"/>
                    </a:ext>
                  </a:extLst>
                </a:gridCol>
                <a:gridCol w="2476025">
                  <a:extLst>
                    <a:ext uri="{9D8B030D-6E8A-4147-A177-3AD203B41FA5}">
                      <a16:colId xmlns:a16="http://schemas.microsoft.com/office/drawing/2014/main" val="1557769997"/>
                    </a:ext>
                  </a:extLst>
                </a:gridCol>
                <a:gridCol w="2476025">
                  <a:extLst>
                    <a:ext uri="{9D8B030D-6E8A-4147-A177-3AD203B41FA5}">
                      <a16:colId xmlns:a16="http://schemas.microsoft.com/office/drawing/2014/main" val="1375330752"/>
                    </a:ext>
                  </a:extLst>
                </a:gridCol>
                <a:gridCol w="2476025">
                  <a:extLst>
                    <a:ext uri="{9D8B030D-6E8A-4147-A177-3AD203B41FA5}">
                      <a16:colId xmlns:a16="http://schemas.microsoft.com/office/drawing/2014/main" val="2395595615"/>
                    </a:ext>
                  </a:extLst>
                </a:gridCol>
                <a:gridCol w="2476025">
                  <a:extLst>
                    <a:ext uri="{9D8B030D-6E8A-4147-A177-3AD203B41FA5}">
                      <a16:colId xmlns:a16="http://schemas.microsoft.com/office/drawing/2014/main" val="2309981558"/>
                    </a:ext>
                  </a:extLst>
                </a:gridCol>
              </a:tblGrid>
              <a:tr h="4145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pc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0" dirty="0">
                          <a:solidFill>
                            <a:schemeClr val="tx1"/>
                          </a:solidFill>
                        </a:rPr>
                        <a:t>Segment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068273"/>
                  </a:ext>
                </a:extLst>
              </a:tr>
              <a:tr h="105190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Segment Summary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354999"/>
                  </a:ext>
                </a:extLst>
              </a:tr>
              <a:tr h="10519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Current Behavior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63113"/>
                  </a:ext>
                </a:extLst>
              </a:tr>
              <a:tr h="105190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Desired Behavior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199234"/>
                  </a:ext>
                </a:extLst>
              </a:tr>
              <a:tr h="105190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spc="0" dirty="0">
                          <a:solidFill>
                            <a:schemeClr val="tx1"/>
                          </a:solidFill>
                        </a:rPr>
                        <a:t>Segment Prioritization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spc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400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1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9E83F-E3D9-8CE0-E8E8-CD9ACED39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2FD956-CFFF-56F0-5FCF-16A0044F7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2134362"/>
            <a:ext cx="5760720" cy="1661993"/>
          </a:xfr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</a:pPr>
            <a:r>
              <a:rPr lang="en-US" dirty="0"/>
              <a:t>SWOT Analysis</a:t>
            </a:r>
          </a:p>
        </p:txBody>
      </p:sp>
    </p:spTree>
    <p:extLst>
      <p:ext uri="{BB962C8B-B14F-4D97-AF65-F5344CB8AC3E}">
        <p14:creationId xmlns:p14="http://schemas.microsoft.com/office/powerpoint/2010/main" val="228067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gray">
          <a:xfrm>
            <a:off x="8867553" y="1203325"/>
            <a:ext cx="2772759" cy="445135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37160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</a:rPr>
              <a:t>Threats</a:t>
            </a:r>
          </a:p>
          <a:p>
            <a:pPr>
              <a:spcBef>
                <a:spcPts val="1500"/>
              </a:spcBef>
            </a:pPr>
            <a:r>
              <a:rPr lang="en-US" sz="1500" dirty="0">
                <a:solidFill>
                  <a:schemeClr val="bg1"/>
                </a:solidFill>
                <a:cs typeface="Arial" panose="020B0604020202020204" pitchFamily="34" charset="0"/>
              </a:rPr>
              <a:t>Placeholder-threats</a:t>
            </a:r>
          </a:p>
        </p:txBody>
      </p:sp>
      <p:sp>
        <p:nvSpPr>
          <p:cNvPr id="30" name="Rectangle 29"/>
          <p:cNvSpPr/>
          <p:nvPr/>
        </p:nvSpPr>
        <p:spPr bwMode="gray">
          <a:xfrm>
            <a:off x="3321506" y="1203325"/>
            <a:ext cx="2772759" cy="44513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37160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</a:rPr>
              <a:t>Weaknesses</a:t>
            </a:r>
          </a:p>
          <a:p>
            <a:pPr>
              <a:spcBef>
                <a:spcPts val="1500"/>
              </a:spcBef>
            </a:pPr>
            <a:r>
              <a:rPr lang="en-US" sz="1500" dirty="0">
                <a:solidFill>
                  <a:schemeClr val="bg1"/>
                </a:solidFill>
                <a:cs typeface="Arial" panose="020B0604020202020204" pitchFamily="34" charset="0"/>
              </a:rPr>
              <a:t>Placeholder-weaknesses</a:t>
            </a:r>
          </a:p>
        </p:txBody>
      </p:sp>
      <p:sp>
        <p:nvSpPr>
          <p:cNvPr id="31" name="Rectangle 30"/>
          <p:cNvSpPr/>
          <p:nvPr/>
        </p:nvSpPr>
        <p:spPr bwMode="gray">
          <a:xfrm>
            <a:off x="6093738" y="1203325"/>
            <a:ext cx="2772759" cy="445135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37160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</a:rPr>
              <a:t>Opportunities</a:t>
            </a:r>
          </a:p>
          <a:p>
            <a:pPr>
              <a:spcBef>
                <a:spcPts val="1500"/>
              </a:spcBef>
            </a:pPr>
            <a:r>
              <a:rPr lang="en-US" sz="1500" dirty="0">
                <a:solidFill>
                  <a:schemeClr val="bg1"/>
                </a:solidFill>
                <a:cs typeface="Arial" panose="020B0604020202020204" pitchFamily="34" charset="0"/>
              </a:rPr>
              <a:t>Placeholder-opportunities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SWOT</a:t>
            </a:r>
          </a:p>
        </p:txBody>
      </p:sp>
      <p:sp>
        <p:nvSpPr>
          <p:cNvPr id="4" name="Rectangle 3"/>
          <p:cNvSpPr/>
          <p:nvPr/>
        </p:nvSpPr>
        <p:spPr bwMode="gray">
          <a:xfrm>
            <a:off x="547164" y="1203325"/>
            <a:ext cx="2772759" cy="445135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37160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</a:rPr>
              <a:t>Strengths</a:t>
            </a:r>
          </a:p>
          <a:p>
            <a:pPr>
              <a:spcBef>
                <a:spcPts val="1500"/>
              </a:spcBef>
              <a:spcAft>
                <a:spcPts val="0"/>
              </a:spcAft>
            </a:pPr>
            <a:r>
              <a:rPr lang="en-US" sz="1500" dirty="0">
                <a:solidFill>
                  <a:schemeClr val="bg1"/>
                </a:solidFill>
                <a:cs typeface="Arial" panose="020B0604020202020204" pitchFamily="34" charset="0"/>
              </a:rPr>
              <a:t>Placeholder-strengths</a:t>
            </a:r>
          </a:p>
          <a:p>
            <a:pPr marL="285750" indent="-285750">
              <a:spcBef>
                <a:spcPts val="1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1BB8C1-CA06-45D5-B9EE-1B5166BFC63E}"/>
              </a:ext>
            </a:extLst>
          </p:cNvPr>
          <p:cNvSpPr>
            <a:spLocks/>
          </p:cNvSpPr>
          <p:nvPr/>
        </p:nvSpPr>
        <p:spPr bwMode="gray">
          <a:xfrm>
            <a:off x="1477819" y="1464375"/>
            <a:ext cx="914400" cy="914400"/>
          </a:xfrm>
          <a:prstGeom prst="ellipse">
            <a:avLst/>
          </a:prstGeom>
          <a:solidFill>
            <a:srgbClr val="F4F3F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bg2"/>
                </a:solidFill>
              </a:rPr>
              <a:t>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F5D9DBF-B00D-4CDF-B214-A340AABCC959}"/>
              </a:ext>
            </a:extLst>
          </p:cNvPr>
          <p:cNvSpPr>
            <a:spLocks/>
          </p:cNvSpPr>
          <p:nvPr/>
        </p:nvSpPr>
        <p:spPr bwMode="gray">
          <a:xfrm>
            <a:off x="4250686" y="1464375"/>
            <a:ext cx="914400" cy="914400"/>
          </a:xfrm>
          <a:prstGeom prst="ellipse">
            <a:avLst/>
          </a:prstGeom>
          <a:solidFill>
            <a:srgbClr val="F4F3F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tx1">
                    <a:lumMod val="40000"/>
                    <a:lumOff val="60000"/>
                  </a:schemeClr>
                </a:solidFill>
              </a:rPr>
              <a:t>W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9AC1357-B93E-452C-B362-E476BFE55558}"/>
              </a:ext>
            </a:extLst>
          </p:cNvPr>
          <p:cNvSpPr>
            <a:spLocks/>
          </p:cNvSpPr>
          <p:nvPr/>
        </p:nvSpPr>
        <p:spPr bwMode="gray">
          <a:xfrm>
            <a:off x="7022918" y="1464375"/>
            <a:ext cx="914400" cy="914400"/>
          </a:xfrm>
          <a:prstGeom prst="ellipse">
            <a:avLst/>
          </a:prstGeom>
          <a:solidFill>
            <a:srgbClr val="F4F3F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0070C0"/>
                </a:solidFill>
              </a:rPr>
              <a:t>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D2B7FF-41D0-418B-A2FB-D0B9A979FBAD}"/>
              </a:ext>
            </a:extLst>
          </p:cNvPr>
          <p:cNvSpPr>
            <a:spLocks/>
          </p:cNvSpPr>
          <p:nvPr/>
        </p:nvSpPr>
        <p:spPr bwMode="gray">
          <a:xfrm>
            <a:off x="9795149" y="1464375"/>
            <a:ext cx="914400" cy="914400"/>
          </a:xfrm>
          <a:prstGeom prst="ellipse">
            <a:avLst/>
          </a:prstGeom>
          <a:solidFill>
            <a:srgbClr val="F4F3F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500"/>
              </a:spcBef>
              <a:spcAft>
                <a:spcPts val="0"/>
              </a:spcAft>
            </a:pPr>
            <a:r>
              <a:rPr lang="en-US" sz="2800" b="1" dirty="0">
                <a:solidFill>
                  <a:schemeClr val="tx1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61867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48B5-F25E-F433-6DC6-D31F55C1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A868A2-12CA-084B-E942-E88FE018A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2134362"/>
            <a:ext cx="5760720" cy="1661993"/>
          </a:xfrm>
        </p:spPr>
        <p:txBody>
          <a:bodyPr anchor="b">
            <a:normAutofit/>
          </a:bodyPr>
          <a:lstStyle/>
          <a:p>
            <a:pPr fontAlgn="auto">
              <a:spcAft>
                <a:spcPts val="0"/>
              </a:spcAft>
            </a:pPr>
            <a:r>
              <a:rPr lang="en-US" dirty="0"/>
              <a:t>Messaging</a:t>
            </a:r>
            <a:br>
              <a:rPr lang="en-US" dirty="0"/>
            </a:br>
            <a:r>
              <a:rPr lang="en-US" dirty="0"/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154381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D895-7701-947F-4892-3BD2362C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objective framework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3F3FC0-8BCC-9104-02B6-EC4199136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59849"/>
              </p:ext>
            </p:extLst>
          </p:nvPr>
        </p:nvGraphicFramePr>
        <p:xfrm>
          <a:off x="431529" y="1299801"/>
          <a:ext cx="11327355" cy="475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5771">
                  <a:extLst>
                    <a:ext uri="{9D8B030D-6E8A-4147-A177-3AD203B41FA5}">
                      <a16:colId xmlns:a16="http://schemas.microsoft.com/office/drawing/2014/main" val="2838036444"/>
                    </a:ext>
                  </a:extLst>
                </a:gridCol>
                <a:gridCol w="3980792">
                  <a:extLst>
                    <a:ext uri="{9D8B030D-6E8A-4147-A177-3AD203B41FA5}">
                      <a16:colId xmlns:a16="http://schemas.microsoft.com/office/drawing/2014/main" val="2417916984"/>
                    </a:ext>
                  </a:extLst>
                </a:gridCol>
                <a:gridCol w="3980792">
                  <a:extLst>
                    <a:ext uri="{9D8B030D-6E8A-4147-A177-3AD203B41FA5}">
                      <a16:colId xmlns:a16="http://schemas.microsoft.com/office/drawing/2014/main" val="3794040283"/>
                    </a:ext>
                  </a:extLst>
                </a:gridCol>
              </a:tblGrid>
              <a:tr h="488623"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rgbClr val="BE2BBB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rPr>
                        <a:t>Segment 1</a:t>
                      </a:r>
                    </a:p>
                  </a:txBody>
                  <a:tcPr marL="134641" marR="134641" marT="50579" marB="5057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rPr>
                        <a:t>Segment 2</a:t>
                      </a:r>
                    </a:p>
                  </a:txBody>
                  <a:tcPr marL="134641" marR="134641" marT="50579" marB="5057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57674"/>
                  </a:ext>
                </a:extLst>
              </a:tr>
              <a:tr h="62634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rPr>
                        <a:t>Target/Prioritized Segment</a:t>
                      </a:r>
                      <a:endParaRPr lang="en-US" sz="1800" b="1" i="1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i="1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i="1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413595"/>
                  </a:ext>
                </a:extLst>
              </a:tr>
              <a:tr h="101256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rPr>
                        <a:t>Drivers/Barriers</a:t>
                      </a:r>
                      <a:endParaRPr lang="en-US" sz="1800" b="1" i="1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rgbClr val="00B050"/>
                        </a:buClr>
                        <a:buFont typeface="Wingdings" panose="05000000000000000000" pitchFamily="2" charset="2"/>
                        <a:buNone/>
                      </a:pPr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00B050"/>
                        </a:buClr>
                        <a:buFont typeface="Wingdings" panose="05000000000000000000" pitchFamily="2" charset="2"/>
                        <a:buChar char=""/>
                      </a:pPr>
                      <a:endParaRPr lang="en-US" sz="1200" i="1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422536"/>
                  </a:ext>
                </a:extLst>
              </a:tr>
              <a:tr h="62634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rPr>
                        <a:t>Desired Behavior Change</a:t>
                      </a:r>
                      <a:endParaRPr lang="en-US" sz="1800" b="1" i="1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436029"/>
                  </a:ext>
                </a:extLst>
              </a:tr>
              <a:tr h="74712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/>
                          <a:ea typeface="+mj-ea"/>
                          <a:cs typeface="+mj-cs"/>
                        </a:rPr>
                        <a:t>Differentiated Competitive Benefit</a:t>
                      </a:r>
                      <a:endParaRPr lang="en-US" sz="1800" b="1" i="1" dirty="0">
                        <a:solidFill>
                          <a:schemeClr val="bg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83602" marR="83602" marT="41801" marB="41801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83602" marR="83602" marT="41801" marB="4180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039543"/>
                  </a:ext>
                </a:extLst>
              </a:tr>
              <a:tr h="626346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Reason to Believe</a:t>
                      </a:r>
                      <a:endParaRPr lang="en-US" sz="1800" b="1" i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83602" marR="83602" marT="41801" marB="41801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83602" marR="83602" marT="41801" marB="4180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645796"/>
                  </a:ext>
                </a:extLst>
              </a:tr>
              <a:tr h="626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Business Objective</a:t>
                      </a:r>
                      <a:endParaRPr lang="en-US" sz="1800" b="1" i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i="1" dirty="0">
                        <a:solidFill>
                          <a:srgbClr val="595454"/>
                        </a:solidFill>
                      </a:endParaRPr>
                    </a:p>
                  </a:txBody>
                  <a:tcPr marL="134641" marR="134641" marT="50579" marB="50579" anchor="ctr">
                    <a:lnL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9F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85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60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DD9C-E2D3-4617-9475-809CDF7C5E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17305354"/>
      </p:ext>
    </p:extLst>
  </p:cSld>
  <p:clrMapOvr>
    <a:masterClrMapping/>
  </p:clrMapOvr>
</p:sld>
</file>

<file path=ppt/theme/theme1.xml><?xml version="1.0" encoding="utf-8"?>
<a:theme xmlns:a="http://schemas.openxmlformats.org/drawingml/2006/main" name="ZS PPT 16x9">
  <a:themeElements>
    <a:clrScheme name="ZS Colors_Updated">
      <a:dk1>
        <a:srgbClr val="000000"/>
      </a:dk1>
      <a:lt1>
        <a:srgbClr val="FFFFFF"/>
      </a:lt1>
      <a:dk2>
        <a:srgbClr val="75737D"/>
      </a:dk2>
      <a:lt2>
        <a:srgbClr val="EC7200"/>
      </a:lt2>
      <a:accent1>
        <a:srgbClr val="1A1628"/>
      </a:accent1>
      <a:accent2>
        <a:srgbClr val="EC7200"/>
      </a:accent2>
      <a:accent3>
        <a:srgbClr val="32A29B"/>
      </a:accent3>
      <a:accent4>
        <a:srgbClr val="EAC959"/>
      </a:accent4>
      <a:accent5>
        <a:srgbClr val="408CFF"/>
      </a:accent5>
      <a:accent6>
        <a:srgbClr val="7FD07D"/>
      </a:accent6>
      <a:hlink>
        <a:srgbClr val="1A1628"/>
      </a:hlink>
      <a:folHlink>
        <a:srgbClr val="EC72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9525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600"/>
          </a:spcBef>
          <a:spcAft>
            <a:spcPts val="0"/>
          </a:spcAft>
          <a:defRPr sz="18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2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  <a:miter lim="800000"/>
        </a:ln>
      </a:spPr>
      <a:bodyPr wrap="none" lIns="0" tIns="0" rIns="0" bIns="0" rtlCol="0">
        <a:noAutofit/>
      </a:bodyPr>
      <a:lstStyle>
        <a:defPPr algn="l">
          <a:spcBef>
            <a:spcPts val="600"/>
          </a:spcBef>
          <a:spcAft>
            <a:spcPts val="0"/>
          </a:spcAft>
          <a:defRPr sz="1800" dirty="0" err="1" smtClean="0">
            <a:solidFill>
              <a:schemeClr val="accent1"/>
            </a:solidFill>
          </a:defRPr>
        </a:defPPr>
      </a:lstStyle>
    </a:txDef>
  </a:objectDefaults>
  <a:extraClrSchemeLst/>
  <a:custClrLst>
    <a:custClr name="Purple">
      <a:srgbClr val="8F5AFF"/>
    </a:custClr>
    <a:custClr name="80% Gray">
      <a:srgbClr val="474554"/>
    </a:custClr>
    <a:custClr name="60% Gray">
      <a:srgbClr val="75737D"/>
    </a:custClr>
    <a:custClr name="40% Gray">
      <a:srgbClr val="A3A1A8"/>
    </a:custClr>
    <a:custClr name="20% Gray">
      <a:srgbClr val="D1D0D4"/>
    </a:custClr>
    <a:custClr name="Light Gray">
      <a:srgbClr val="F4F3F3"/>
    </a:custClr>
  </a:custClrLst>
  <a:extLst>
    <a:ext uri="{05A4C25C-085E-4340-85A3-A5531E510DB2}">
      <thm15:themeFamily xmlns:thm15="http://schemas.microsoft.com/office/thememl/2012/main" name="ZS PPT 16x9" id="{23E6B796-D66E-4871-84BA-FC6C42EB6A49}" vid="{EFA283CE-B6C6-4E3D-9693-81FFE38B810E}"/>
    </a:ext>
  </a:extLst>
</a:theme>
</file>

<file path=ppt/theme/theme2.xml><?xml version="1.0" encoding="utf-8"?>
<a:theme xmlns:a="http://schemas.openxmlformats.org/drawingml/2006/main" name="Office Theme">
  <a:themeElements>
    <a:clrScheme name="ZS 2020 Colors">
      <a:dk1>
        <a:srgbClr val="1A1628"/>
      </a:dk1>
      <a:lt1>
        <a:srgbClr val="FFFFFF"/>
      </a:lt1>
      <a:dk2>
        <a:srgbClr val="75737D"/>
      </a:dk2>
      <a:lt2>
        <a:srgbClr val="EC7200"/>
      </a:lt2>
      <a:accent1>
        <a:srgbClr val="1A1628"/>
      </a:accent1>
      <a:accent2>
        <a:srgbClr val="EC7200"/>
      </a:accent2>
      <a:accent3>
        <a:srgbClr val="32A29B"/>
      </a:accent3>
      <a:accent4>
        <a:srgbClr val="EAC959"/>
      </a:accent4>
      <a:accent5>
        <a:srgbClr val="408CFF"/>
      </a:accent5>
      <a:accent6>
        <a:srgbClr val="7FD07D"/>
      </a:accent6>
      <a:hlink>
        <a:srgbClr val="1A1628"/>
      </a:hlink>
      <a:folHlink>
        <a:srgbClr val="EC72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ZS 2020 Colors">
      <a:dk1>
        <a:srgbClr val="1A1628"/>
      </a:dk1>
      <a:lt1>
        <a:srgbClr val="FFFFFF"/>
      </a:lt1>
      <a:dk2>
        <a:srgbClr val="75737D"/>
      </a:dk2>
      <a:lt2>
        <a:srgbClr val="EC7200"/>
      </a:lt2>
      <a:accent1>
        <a:srgbClr val="1A1628"/>
      </a:accent1>
      <a:accent2>
        <a:srgbClr val="EC7200"/>
      </a:accent2>
      <a:accent3>
        <a:srgbClr val="32A29B"/>
      </a:accent3>
      <a:accent4>
        <a:srgbClr val="EAC959"/>
      </a:accent4>
      <a:accent5>
        <a:srgbClr val="408CFF"/>
      </a:accent5>
      <a:accent6>
        <a:srgbClr val="7FD07D"/>
      </a:accent6>
      <a:hlink>
        <a:srgbClr val="1A1628"/>
      </a:hlink>
      <a:folHlink>
        <a:srgbClr val="EC72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A68859C-C15D-473B-936D-103BFD387092}">
  <we:reference id="bc854cf1-a8f8-4108-bb0c-7ead9d48d8ad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62CCCF6B18474FAC12703C52E47DB3" ma:contentTypeVersion="13" ma:contentTypeDescription="Create a new document." ma:contentTypeScope="" ma:versionID="653cd7344e0cd4aae8a9fa74eee42cc9">
  <xsd:schema xmlns:xsd="http://www.w3.org/2001/XMLSchema" xmlns:xs="http://www.w3.org/2001/XMLSchema" xmlns:p="http://schemas.microsoft.com/office/2006/metadata/properties" xmlns:ns2="c23939fd-8463-475f-a7da-6cd183c469bf" xmlns:ns3="05764114-edfb-4a5c-940b-544059dd1a8c" targetNamespace="http://schemas.microsoft.com/office/2006/metadata/properties" ma:root="true" ma:fieldsID="949d5ee5a0713cce2ad4c154f0e43479" ns2:_="" ns3:_="">
    <xsd:import namespace="c23939fd-8463-475f-a7da-6cd183c469bf"/>
    <xsd:import namespace="05764114-edfb-4a5c-940b-544059dd1a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3939fd-8463-475f-a7da-6cd183c469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64114-edfb-4a5c-940b-544059dd1a8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584C74-4BE8-47B3-9AD1-94A85EB28CAC}">
  <ds:schemaRefs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05764114-edfb-4a5c-940b-544059dd1a8c"/>
    <ds:schemaRef ds:uri="62399b39-8d8a-4c46-9135-fcfb64bda7ef"/>
    <ds:schemaRef ds:uri="http://schemas.microsoft.com/sharepoint/v3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EBE04F6-7BCF-41BB-BFDE-2B07D5EA92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4B6C7F-9D62-4C31-9934-D79F3EFFC0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3939fd-8463-475f-a7da-6cd183c469bf"/>
    <ds:schemaRef ds:uri="05764114-edfb-4a5c-940b-544059dd1a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ffb99db-04b0-4879-8e73-d3174e57b086}" enabled="1" method="Standard" siteId="{ec3c7dee-d552-494b-a393-7f941a90b98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ZS PPT 16x9</Template>
  <TotalTime>17</TotalTime>
  <Words>188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Wingdings</vt:lpstr>
      <vt:lpstr>Wingdings 2</vt:lpstr>
      <vt:lpstr>ZS PPT 16x9</vt:lpstr>
      <vt:lpstr>ZS BP Coach– Your business plan partner</vt:lpstr>
      <vt:lpstr>Customer Segmentation</vt:lpstr>
      <vt:lpstr>Factors that inform a customer segment</vt:lpstr>
      <vt:lpstr>Prioritization of the customer segments </vt:lpstr>
      <vt:lpstr>SWOT Analysis</vt:lpstr>
      <vt:lpstr>SWOT</vt:lpstr>
      <vt:lpstr>Messaging Strategy</vt:lpstr>
      <vt:lpstr>Business objective framework</vt:lpstr>
      <vt:lpstr>Thank you!</vt:lpstr>
    </vt:vector>
  </TitlesOfParts>
  <Company>ZS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Deng</dc:creator>
  <cp:lastModifiedBy>Daniel Deng</cp:lastModifiedBy>
  <cp:revision>2</cp:revision>
  <dcterms:created xsi:type="dcterms:W3CDTF">2026-03-25T07:38:07Z</dcterms:created>
  <dcterms:modified xsi:type="dcterms:W3CDTF">2026-03-25T07:55:50Z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seFileName">
    <vt:bool>true</vt:bool>
  </property>
  <property fmtid="{D5CDD505-2E9C-101B-9397-08002B2CF9AE}" pid="3" name="UsePageNumber">
    <vt:bool>true</vt:bool>
  </property>
  <property fmtid="{D5CDD505-2E9C-101B-9397-08002B2CF9AE}" pid="4" name="ContentTypeId">
    <vt:lpwstr>0x010100CE62CCCF6B18474FAC12703C52E47DB3</vt:lpwstr>
  </property>
  <property fmtid="{D5CDD505-2E9C-101B-9397-08002B2CF9AE}" pid="5" name="TaxKeyword">
    <vt:lpwstr>407;#ZS|356bc6a6-127e-4b03-84ea-e42b6b38275e</vt:lpwstr>
  </property>
</Properties>
</file>